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B99-4896-B949-3B3A1B134103}"/>
              </c:ext>
            </c:extLst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99-4896-B949-3B3A1B134103}"/>
              </c:ext>
            </c:extLst>
          </c:dPt>
          <c:dPt>
            <c:idx val="2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99-4896-B949-3B3A1B134103}"/>
              </c:ext>
            </c:extLst>
          </c:dPt>
          <c:dPt>
            <c:idx val="3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99-4896-B949-3B3A1B134103}"/>
              </c:ext>
            </c:extLst>
          </c:dPt>
          <c:dPt>
            <c:idx val="4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B99-4896-B949-3B3A1B134103}"/>
              </c:ext>
            </c:extLst>
          </c:dPt>
          <c:dPt>
            <c:idx val="5"/>
            <c:invertIfNegative val="0"/>
            <c:bubble3D val="0"/>
            <c:spPr>
              <a:solidFill>
                <a:srgbClr val="22A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B99-4896-B949-3B3A1B134103}"/>
              </c:ext>
            </c:extLst>
          </c:dPt>
          <c:dPt>
            <c:idx val="6"/>
            <c:invertIfNegative val="0"/>
            <c:bubble3D val="0"/>
            <c:spPr>
              <a:solidFill>
                <a:srgbClr val="22A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B99-4896-B949-3B3A1B134103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B99-4896-B949-3B3A1B134103}"/>
              </c:ext>
            </c:extLst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B99-4896-B949-3B3A1B134103}"/>
              </c:ext>
            </c:extLst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B99-4896-B949-3B3A1B1341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Electrónicos</c:v>
                </c:pt>
                <c:pt idx="1">
                  <c:v>Tetrapak</c:v>
                </c:pt>
                <c:pt idx="2">
                  <c:v>Cartón</c:v>
                </c:pt>
                <c:pt idx="3">
                  <c:v>Papel</c:v>
                </c:pt>
                <c:pt idx="4">
                  <c:v>Orgánico</c:v>
                </c:pt>
                <c:pt idx="5">
                  <c:v>Botella PET</c:v>
                </c:pt>
                <c:pt idx="6">
                  <c:v>Lata</c:v>
                </c:pt>
                <c:pt idx="7">
                  <c:v>Botella Vidrio</c:v>
                </c:pt>
                <c:pt idx="8">
                  <c:v>Bolsa Plástica</c:v>
                </c:pt>
                <c:pt idx="9">
                  <c:v>No Reciclable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94.1</c:v>
                </c:pt>
                <c:pt idx="1">
                  <c:v>90.6</c:v>
                </c:pt>
                <c:pt idx="2">
                  <c:v>90.2</c:v>
                </c:pt>
                <c:pt idx="3">
                  <c:v>85.3</c:v>
                </c:pt>
                <c:pt idx="4">
                  <c:v>82.7</c:v>
                </c:pt>
                <c:pt idx="5">
                  <c:v>79.400000000000006</c:v>
                </c:pt>
                <c:pt idx="6">
                  <c:v>75</c:v>
                </c:pt>
                <c:pt idx="7">
                  <c:v>62.5</c:v>
                </c:pt>
                <c:pt idx="8">
                  <c:v>63.6</c:v>
                </c:pt>
                <c:pt idx="9">
                  <c:v>52.6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B99-4896-B949-3B3A1B1341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2B2B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06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CC80"/>
          </a:solidFill>
          <a:ln w="12700">
            <a:solidFill>
              <a:srgbClr val="2ECC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-1280160"/>
            <a:ext cx="4389120" cy="43891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78040" y="-822960"/>
            <a:ext cx="3383280" cy="3383280"/>
          </a:xfrm>
          <a:prstGeom prst="ellipse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-502920"/>
            <a:ext cx="33375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dirty="0">
                <a:solidFill>
                  <a:srgbClr val="FFFFFF"/>
                </a:solidFill>
              </a:rPr>
              <a:t>♻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Eco</a:t>
            </a:r>
            <a:r>
              <a:rPr lang="en-US" sz="5600" b="1" dirty="0">
                <a:solidFill>
                  <a:srgbClr val="2ECC8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Recicla</a:t>
            </a:r>
            <a:r>
              <a:rPr lang="en-US" sz="56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 IA</a:t>
            </a:r>
            <a:endParaRPr lang="en-US" sz="56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Clasificación inteligente de residuos sólidos</a:t>
            </a:r>
            <a:endParaRPr lang="en-US" sz="20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con visión artificial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5303520" cy="22860"/>
          </a:xfrm>
          <a:prstGeom prst="rect">
            <a:avLst/>
          </a:prstGeom>
          <a:solidFill>
            <a:srgbClr val="2ECC80"/>
          </a:solidFill>
          <a:ln w="12700">
            <a:solidFill>
              <a:srgbClr val="2ECC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99232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Universidad Mariano Gálvez de Guatemala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Facultad de Ingeniería  ·  Curso 045 IA  ·  Grupo #4  ·  Ciclo 2026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Catedrático: Ing. MA. Carmelo Estuardo Mayén Monterroso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732520" y="48006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¿Por qué es difícil reciclar?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" y="877824"/>
            <a:ext cx="272491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77824"/>
            <a:ext cx="2724912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4241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53312" y="2011680"/>
            <a:ext cx="713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Georgia" panose="02040502050405020303" pitchFamily="18" charset="0"/>
              </a:rPr>
              <a:t>🗑️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2670048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Residuos reciclables mal depositados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" y="3236976"/>
            <a:ext cx="24505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Termina en la basura general por desconocimiento ciudadano sobre cómo separar correctamente los materiales.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9544" y="877824"/>
            <a:ext cx="272491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9544" y="877824"/>
            <a:ext cx="2724912" cy="146304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04241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A06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AGG</a:t>
            </a:r>
            <a:endParaRPr lang="en-US" sz="20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22A06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164-2021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15384" y="2011680"/>
            <a:ext cx="713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00984" y="2670048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Normativa existe, pero falta difusión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46704" y="3186684"/>
            <a:ext cx="24505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Guatemala cuenta con el Acuerdo Gubernativo 164-2021 del MARN con sistema de colores, pero el ciudadano no lo conoce.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71616" y="827532"/>
            <a:ext cx="272491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877824"/>
            <a:ext cx="2724912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992124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77456" y="2011680"/>
            <a:ext cx="713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63056" y="2670048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Sin herramienta accesible en tiempo real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08776" y="3186684"/>
            <a:ext cx="24505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No existe una aplicación gratuita y accesible que guíe al ciudadano en tiempo real sobre qué recipiente usar.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732520" y="48006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Solución — EcoRecicla IA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8449056" cy="960120"/>
          </a:xfrm>
          <a:prstGeom prst="rect">
            <a:avLst/>
          </a:prstGeom>
          <a:solidFill>
            <a:srgbClr val="EAF5EE"/>
          </a:solidFill>
          <a:ln w="12700">
            <a:solidFill>
              <a:srgbClr val="2ECC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59536"/>
            <a:ext cx="822960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EcoRecicla IA analiza una fotografía de un residuo y determina en qué recipiente depositarlo</a:t>
            </a:r>
            <a:endParaRPr lang="en-US" sz="14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según el Acuerdo Gubernativo 164-2021 del MARN de Guatemala.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920240"/>
            <a:ext cx="272491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920240"/>
            <a:ext cx="2724912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2103120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8912" y="2944368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Foto Instantánea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338328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Captura desde cámara web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en tiempo puntual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9544" y="1920240"/>
            <a:ext cx="272491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9544" y="1920240"/>
            <a:ext cx="2724912" cy="146304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103120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🎥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00984" y="2944368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A06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Video WebRTC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00984" y="338328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Análisis continuo en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tiempo real (streaming)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71616" y="1920240"/>
            <a:ext cx="272491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920240"/>
            <a:ext cx="2724912" cy="14630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2103120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📂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63056" y="2944368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80B9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Subir Archivo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338328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Sube JPG, PNG o MP4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desde tu dispositivo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Alineado con el Acuerdo Gubernativo 164-2021 — MARN Guatemala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32520" y="48006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3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Arquitectura del Sistema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1752" y="896112"/>
            <a:ext cx="15361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8388" y="82296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🖼️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6616" y="2240280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Imagen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Capturada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6616" y="2907792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Foto/Video/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Archivo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37944" y="2487168"/>
            <a:ext cx="182880" cy="73152"/>
          </a:xfrm>
          <a:prstGeom prst="rect">
            <a:avLst/>
          </a:prstGeom>
          <a:solidFill>
            <a:srgbClr val="D8E4DC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0824" y="896112"/>
            <a:ext cx="15361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7460" y="82296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746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6000" y="148132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965960" y="2240280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Pre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Procesamiento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75688" y="2907792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224×224 px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Normaliz.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557016" y="2487168"/>
            <a:ext cx="182880" cy="73152"/>
          </a:xfrm>
          <a:prstGeom prst="rect">
            <a:avLst/>
          </a:prstGeom>
          <a:solidFill>
            <a:srgbClr val="D8E4DC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896112"/>
            <a:ext cx="1536192" cy="3246120"/>
          </a:xfrm>
          <a:prstGeom prst="rect">
            <a:avLst/>
          </a:prstGeom>
          <a:solidFill>
            <a:srgbClr val="EAF5EE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6532" y="82296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6532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3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05072" y="148132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794760" y="2240280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MobileNetV2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794760" y="2907792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76088" y="2487168"/>
            <a:ext cx="182880" cy="73152"/>
          </a:xfrm>
          <a:prstGeom prst="rect">
            <a:avLst/>
          </a:prstGeom>
          <a:solidFill>
            <a:srgbClr val="D8E4DC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896112"/>
            <a:ext cx="15361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75604" y="82296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5604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4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724144" y="148132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513832" y="2240280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Top-3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Clases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513832" y="2907792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Umbrales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45-70%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995160" y="2487168"/>
            <a:ext cx="182880" cy="73152"/>
          </a:xfrm>
          <a:prstGeom prst="rect">
            <a:avLst/>
          </a:prstGeom>
          <a:solidFill>
            <a:srgbClr val="D8E4DC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896112"/>
            <a:ext cx="15361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94676" y="82296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4676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5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443216" y="148132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♻️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232904" y="2240280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+ Consejo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232904" y="2907792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AGG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164-2021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01752" y="4315968"/>
            <a:ext cx="201168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31596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8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1,932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47472" y="4709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Imágenes de Entrenamiento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478024" y="4315968"/>
            <a:ext cx="201168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23744" y="431596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8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70/15/15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523744" y="4709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Split Train/Val/Test (%)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654296" y="4315968"/>
            <a:ext cx="201168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0016" y="431596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8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ImageNet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700016" y="4709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Pesos Pre-entrenados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830568" y="4315968"/>
            <a:ext cx="201168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76288" y="431596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8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MobileNetV2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76288" y="4709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Arquitectura Base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732520" y="48006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3252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4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10 Categorías de Residuos  —  Acuerdo Gubernativo 164-2021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5953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59536"/>
            <a:ext cx="237744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06070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9052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Botella PET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24712" y="12435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Azul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27448" y="85953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859536"/>
            <a:ext cx="237744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9784" y="106070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9052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Bolsa Plástica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32120" y="12435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Azul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170078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00784"/>
            <a:ext cx="237744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" y="1901952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17465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Botella de Vidrio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4712" y="20848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Celeste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27448" y="170078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1700784"/>
            <a:ext cx="237744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9784" y="1901952"/>
            <a:ext cx="310896" cy="31089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7465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Lata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32120" y="20848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Gris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254203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542032"/>
            <a:ext cx="237744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" y="2743200"/>
            <a:ext cx="310896" cy="31089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" y="25877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Papel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4712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Amarillo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27448" y="254203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7448" y="2542032"/>
            <a:ext cx="237744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9784" y="2743200"/>
            <a:ext cx="310896" cy="31089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5877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Cartón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32120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Amarillo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0040" y="338328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383280"/>
            <a:ext cx="237744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" y="35844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24712" y="34290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Tetrapak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24712" y="3767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Naranja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27448" y="338328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7448" y="3383280"/>
            <a:ext cx="237744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9784" y="3584448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34290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Orgánico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532120" y="3767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Verde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20040" y="42245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224528"/>
            <a:ext cx="23774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" y="4425696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4712" y="42702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Electrónicos Peq.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124712" y="4608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Rojo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727448" y="42245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27448" y="4224528"/>
            <a:ext cx="237744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9784" y="4425696"/>
            <a:ext cx="310896" cy="31089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42702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No Reciclable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532120" y="4608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Recipiente: Negro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732520" y="48006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3252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5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Métricas de Rendimiento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59536"/>
            <a:ext cx="2724912" cy="2761488"/>
          </a:xfrm>
          <a:prstGeom prst="rect">
            <a:avLst/>
          </a:prstGeom>
          <a:solidFill>
            <a:srgbClr val="EAF5EE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59536"/>
            <a:ext cx="2724912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24128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83.17%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3192" y="2066544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de Prueba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3192" y="260604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208 imágenes no vistas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durante </a:t>
            </a:r>
            <a:r>
              <a:rPr lang="en-US" sz="1600" dirty="0" err="1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entrenamiento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82112" y="859536"/>
            <a:ext cx="272491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859536"/>
            <a:ext cx="2724912" cy="146304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024128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A06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94.23%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55264" y="2066544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Top-2</a:t>
            </a:r>
            <a:endParaRPr lang="en-US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55264" y="260604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En top-2 predicciones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correctas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4184" y="859536"/>
            <a:ext cx="272491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859536"/>
            <a:ext cx="2724912" cy="14630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024128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980B9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78.12%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17336" y="2066544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F1-Score</a:t>
            </a:r>
            <a:endParaRPr lang="en-US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Macro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17336" y="260604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Promedio ponderado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por clase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794760"/>
            <a:ext cx="8503920" cy="11704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40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CC8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🎓  Accuracy de Entrenamiento (referencia)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42793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Este valor indica buena capacidad de ajuste al conjunto de </a:t>
            </a:r>
            <a:r>
              <a:rPr lang="en-US" sz="1200" dirty="0" err="1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entrenamiento</a:t>
            </a:r>
            <a:r>
              <a:rPr lang="en-US" sz="12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2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Compararlo con el 83.17% de prueba revela la brecha de generalización a atender.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17920" y="3794760"/>
            <a:ext cx="2468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870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99.44%</a:t>
            </a:r>
            <a:endParaRPr lang="en-US" sz="3800" dirty="0">
              <a:latin typeface="Georgia" panose="020405020504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732520" y="48006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6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Rendimiento por Clase — F1-Score</a:t>
            </a:r>
            <a:endParaRPr lang="en-US" sz="2800" dirty="0">
              <a:latin typeface="Georgia" panose="02040502050405020303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301752" y="804672"/>
          <a:ext cx="59893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82512" y="822960"/>
            <a:ext cx="2459736" cy="1965960"/>
          </a:xfrm>
          <a:prstGeom prst="rect">
            <a:avLst/>
          </a:prstGeom>
          <a:solidFill>
            <a:srgbClr val="EA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73952" y="8595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🏆  Mejores Clases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73952" y="1261872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Electrónicos  </a:t>
            </a:r>
            <a:r>
              <a:rPr lang="en-US" sz="1100" b="1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F1 = 94.1%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Tetrapak  </a:t>
            </a:r>
            <a:r>
              <a:rPr lang="en-US" sz="1100" b="1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F1 = 90.6%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Cartón  </a:t>
            </a:r>
            <a:r>
              <a:rPr lang="en-US" sz="1100" b="1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F1 = 90.2%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82512" y="2926080"/>
            <a:ext cx="2459736" cy="1481328"/>
          </a:xfrm>
          <a:prstGeom prst="rect">
            <a:avLst/>
          </a:prstGeom>
          <a:solidFill>
            <a:srgbClr val="FDF2F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29626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39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⚠️  Clases Débiles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73952" y="3364992"/>
            <a:ext cx="22860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No Reciclable  </a:t>
            </a:r>
            <a:r>
              <a:rPr lang="en-US" sz="1100" b="1" dirty="0">
                <a:solidFill>
                  <a:srgbClr val="C039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F1 = 52.6%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Bolsa Plástica  </a:t>
            </a:r>
            <a:r>
              <a:rPr lang="en-US" sz="1100" b="1" dirty="0">
                <a:solidFill>
                  <a:srgbClr val="C039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F1 = 63.6%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Botella Vidrio  </a:t>
            </a:r>
            <a:r>
              <a:rPr lang="en-US" sz="1100" b="1" dirty="0">
                <a:solidFill>
                  <a:srgbClr val="C039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F1 = 62.5%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1752" y="48097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💡  Las clases débiles tienen menos de 50 imágenes de </a:t>
            </a:r>
            <a:r>
              <a:rPr lang="en-US" sz="1000" i="1" dirty="0" err="1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entrenamiento</a:t>
            </a:r>
            <a:r>
              <a:rPr lang="en-US" sz="1000" i="1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 — principal causa del bajo F1.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732520" y="48006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7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4A2D"/>
          </a:solidFill>
          <a:ln w="12700">
            <a:solidFill>
              <a:srgbClr val="0F4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1752" y="859536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" y="859536"/>
            <a:ext cx="201168" cy="67665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50976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9144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PyTorch 2.2.2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1243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859536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59536"/>
            <a:ext cx="201168" cy="67665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950976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41848" y="9144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MobileNetV2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41848" y="1243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Arquitectura CNN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1752" y="1664208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664208"/>
            <a:ext cx="201168" cy="67665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755648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34440" y="17190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204825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Métricas / Eval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1664208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664208"/>
            <a:ext cx="201168" cy="67665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1755648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41848" y="17190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Albumentations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41848" y="204825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Data Augmentation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01752" y="2468880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" y="2468880"/>
            <a:ext cx="201168" cy="67665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56032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234440" y="252374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OpenCV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4440" y="28529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980B9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Visión Computacional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09160" y="2468880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468880"/>
            <a:ext cx="201168" cy="67665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256032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641848" y="252374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Streamlit 1.33.0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41848" y="28529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980B9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Interfaz Web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01752" y="3273552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" y="3273552"/>
            <a:ext cx="201168" cy="67665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36499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📹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234440" y="33284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streamlit-webrtc 0.65.4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34440" y="365760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44A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Video Streaming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09160" y="3273552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273552"/>
            <a:ext cx="201168" cy="67665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01768" y="336499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5641848" y="33284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Pillow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41848" y="365760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44A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Procesamiento IMG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01752" y="4078224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752" y="4078224"/>
            <a:ext cx="201168" cy="67665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169664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1234440" y="41330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234440" y="446227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Cómputo Numérico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709160" y="4078224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4078224"/>
            <a:ext cx="201168" cy="67665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01768" y="4169664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5641848" y="41330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Python 3.10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641848" y="446227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Lenguaje Base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732520" y="48006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3252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8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4114800" cy="41148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1097280"/>
            <a:ext cx="3474720" cy="34747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Eco</a:t>
            </a:r>
            <a:r>
              <a:rPr lang="en-US" sz="3600" b="1" dirty="0">
                <a:solidFill>
                  <a:srgbClr val="2ECC8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Recicla</a:t>
            </a:r>
            <a:r>
              <a:rPr lang="en-US" sz="3600" b="1" dirty="0">
                <a:solidFill>
                  <a:srgbClr val="FFFFFF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 IA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Grupo #4  ·  UMG  ·  Curso 045 IA  ·  Ciclo 2026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591056"/>
            <a:ext cx="4023360" cy="493776"/>
          </a:xfrm>
          <a:prstGeom prst="rect">
            <a:avLst/>
          </a:prstGeom>
          <a:solidFill>
            <a:srgbClr val="0D3D24"/>
          </a:solidFill>
          <a:ln w="12700">
            <a:solidFill>
              <a:srgbClr val="2ECC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91056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CC80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⌗  github.com/Javiii3er/reciclaje-ia-grupo4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231136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Clasificación inteligente de residuos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B3DFC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con visión artificial y Transfer Learning.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9A98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⚠️  Herramienta educativa — Las recomendaciones son orientativas.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45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4A2D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Equipo de Desarrollo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19472" y="786384"/>
            <a:ext cx="658368" cy="658368"/>
          </a:xfrm>
          <a:prstGeom prst="ellipse">
            <a:avLst/>
          </a:prstGeom>
          <a:solidFill>
            <a:srgbClr val="1A7A4A"/>
          </a:solidFill>
          <a:ln w="25400">
            <a:solidFill>
              <a:srgbClr val="2ECC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7863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JR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87568" y="8046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Javier Rivera Pérez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87568" y="113385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Líder / Desarrollador Principal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19472" y="1636776"/>
            <a:ext cx="658368" cy="658368"/>
          </a:xfrm>
          <a:prstGeom prst="ellipse">
            <a:avLst/>
          </a:prstGeom>
          <a:solidFill>
            <a:srgbClr val="1A7A4A"/>
          </a:solidFill>
          <a:ln w="25400">
            <a:solidFill>
              <a:srgbClr val="2ECC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6367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MV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87568" y="165506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Marvin Vásquez López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87568" y="1984248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Modelo IA — Entrenamiento/ Desarrollador Principal 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19472" y="2487168"/>
            <a:ext cx="658368" cy="658368"/>
          </a:xfrm>
          <a:prstGeom prst="ellipse">
            <a:avLst/>
          </a:prstGeom>
          <a:solidFill>
            <a:srgbClr val="1A7A4A"/>
          </a:solidFill>
          <a:ln w="25400">
            <a:solidFill>
              <a:srgbClr val="2ECC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487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KR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87568" y="25054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Karla Rodríguez Arévalo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87568" y="283464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Datos / EDA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19472" y="3337560"/>
            <a:ext cx="658368" cy="658368"/>
          </a:xfrm>
          <a:prstGeom prst="ellipse">
            <a:avLst/>
          </a:prstGeom>
          <a:solidFill>
            <a:srgbClr val="1A7A4A"/>
          </a:solidFill>
          <a:ln w="25400">
            <a:solidFill>
              <a:srgbClr val="2ECC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337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CG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87568" y="33558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Cesar Gonzáles Cardona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87568" y="368503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Interfaz de Usuario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919472" y="4187952"/>
            <a:ext cx="658368" cy="658368"/>
          </a:xfrm>
          <a:prstGeom prst="ellipse">
            <a:avLst/>
          </a:prstGeom>
          <a:solidFill>
            <a:srgbClr val="1A7A4A"/>
          </a:solidFill>
          <a:ln w="25400">
            <a:solidFill>
              <a:srgbClr val="2ECC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41879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</a:rPr>
              <a:t>PM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87568" y="42062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2B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Paolo Marroquín de la Cruz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87568" y="453542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7A4A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Documentación / QA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732520" y="48006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9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589</Words>
  <Application>Microsoft Office PowerPoint</Application>
  <PresentationFormat>Presentación en pantalla (16:9)</PresentationFormat>
  <Paragraphs>197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EcoRecicla IA</dc:title>
  <dc:subject>PptxGenJS Presentation</dc:subject>
  <dc:creator>Grupo #4 — UMG Curso 045 IA</dc:creator>
  <cp:lastModifiedBy>2210552 - JAVIER JOSE LUIS RIVERA PEREZ</cp:lastModifiedBy>
  <cp:revision>2</cp:revision>
  <dcterms:created xsi:type="dcterms:W3CDTF">2026-05-14T05:37:30Z</dcterms:created>
  <dcterms:modified xsi:type="dcterms:W3CDTF">2026-05-14T06:04:58Z</dcterms:modified>
</cp:coreProperties>
</file>